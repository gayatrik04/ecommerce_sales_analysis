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E-Commerce Sales Performance Analysis</a:t>
            </a:r>
          </a:p>
          <a:p>
            <a:pPr algn="ctr">
              <a:defRPr sz="3000"/>
            </a:pPr>
            <a:r>
              <a:t>&amp; Revenue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End-to-end analytics project using Python, SQL, Databricks, Power BI and Machine Learning</a:t>
            </a:r>
          </a:p>
          <a:p>
            <a:pPr algn="ctr">
              <a:defRPr sz="1600"/>
            </a:pPr>
            <a:r>
              <a:t>Jan–Jun 2026 | 1,000 Orders | ₹27.62M Revenue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Analyze e-commerce sales performance across products, categories and locations.</a:t>
            </a:r>
          </a:p>
          <a:p>
            <a:pPr>
              <a:spcAft>
                <a:spcPts val="1200"/>
              </a:spcAft>
              <a:defRPr sz="1900"/>
            </a:pPr>
            <a:r>
              <a:t>Identify revenue trends, top-performing products and underperforming areas.</a:t>
            </a:r>
          </a:p>
          <a:p>
            <a:pPr>
              <a:spcAft>
                <a:spcPts val="1200"/>
              </a:spcAft>
              <a:defRPr sz="1900"/>
            </a:pPr>
            <a:r>
              <a:t>Understand changes in monthly revenue and sales contribution.</a:t>
            </a:r>
          </a:p>
          <a:p>
            <a:pPr>
              <a:spcAft>
                <a:spcPts val="1200"/>
              </a:spcAft>
              <a:defRPr sz="1900"/>
            </a:pPr>
            <a:r>
              <a:t>Build a short-term daily revenue forecasting model for planning.</a:t>
            </a:r>
          </a:p>
          <a:p>
            <a:pPr>
              <a:spcAft>
                <a:spcPts val="1200"/>
              </a:spcAft>
              <a:defRPr sz="1900"/>
            </a:pPr>
            <a:r>
              <a:t>Convert analytical findings into actionable business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&amp; Key Business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Simulated transaction-level e-commerce dataset covering January–June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146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1,000</a:t>
            </a:r>
          </a:p>
          <a:p>
            <a:pPr algn="ctr">
              <a:defRPr sz="1200"/>
            </a:pPr>
            <a:r>
              <a:t>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17320"/>
            <a:ext cx="25146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3,035</a:t>
            </a:r>
          </a:p>
          <a:p>
            <a:pPr algn="ctr">
              <a:defRPr sz="1200"/>
            </a:pPr>
            <a:r>
              <a:t>Units Sold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25146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₹27.62M</a:t>
            </a:r>
          </a:p>
          <a:p>
            <a:pPr algn="ctr">
              <a:defRPr sz="1200"/>
            </a:pPr>
            <a:r>
              <a:t>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417320"/>
            <a:ext cx="25146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₹27,621</a:t>
            </a:r>
          </a:p>
          <a:p>
            <a:pPr algn="ctr">
              <a:defRPr sz="1200"/>
            </a:pPr>
            <a:r>
              <a:t>Average Order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Core fields: Order ID, Order Date, Product, Category, City, Region, Quantity, Price and Total Price.</a:t>
            </a:r>
          </a:p>
          <a:p>
            <a:pPr>
              <a:spcAft>
                <a:spcPts val="1200"/>
              </a:spcAft>
              <a:defRPr sz="1700"/>
            </a:pPr>
            <a:r>
              <a:t>Analysis performed at transaction, product, category, geographic and daily time-series levels.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End-to-End Analytics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Python → data quality checks, cleaning and exploratory analysis</a:t>
            </a:r>
          </a:p>
          <a:p>
            <a:pPr>
              <a:spcAft>
                <a:spcPts val="1200"/>
              </a:spcAft>
              <a:defRPr sz="1800"/>
            </a:pPr>
            <a:r>
              <a:t>SQL → KPIs, product/category analysis, geographic analysis and window functions</a:t>
            </a:r>
          </a:p>
          <a:p>
            <a:pPr>
              <a:spcAft>
                <a:spcPts val="1200"/>
              </a:spcAft>
              <a:defRPr sz="1800"/>
            </a:pPr>
            <a:r>
              <a:t>Databricks → curated data and Gold analytical tables using Delta</a:t>
            </a:r>
          </a:p>
          <a:p>
            <a:pPr>
              <a:spcAft>
                <a:spcPts val="1200"/>
              </a:spcAft>
              <a:defRPr sz="1800"/>
            </a:pPr>
            <a:r>
              <a:t>Feature Engineering → lag and rolling revenue features without target leakage</a:t>
            </a:r>
          </a:p>
          <a:p>
            <a:pPr>
              <a:spcAft>
                <a:spcPts val="1200"/>
              </a:spcAft>
              <a:defRPr sz="1800"/>
            </a:pPr>
            <a:r>
              <a:t>Machine Learning → baseline, Linear Regression and Random Forest comparison</a:t>
            </a:r>
          </a:p>
          <a:p>
            <a:pPr>
              <a:spcAft>
                <a:spcPts val="1200"/>
              </a:spcAft>
              <a:defRPr sz="1800"/>
            </a:pPr>
            <a:r>
              <a:t>Power BI → executive and regional sales dashboards</a:t>
            </a:r>
          </a:p>
          <a:p>
            <a:pPr>
              <a:spcAft>
                <a:spcPts val="1200"/>
              </a:spcAft>
              <a:defRPr sz="1800"/>
            </a:pPr>
            <a:r>
              <a:t>Business Insights → recommendations and short-term revenue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Electronics generated approximately 78.2% of total revenue, making it the dominant category.</a:t>
            </a:r>
          </a:p>
          <a:p>
            <a:pPr>
              <a:spcAft>
                <a:spcPts val="1200"/>
              </a:spcAft>
              <a:defRPr sz="1600"/>
            </a:pPr>
            <a:r>
              <a:t>The top five products contributed about 88% of revenue, indicating strong revenue concentration.</a:t>
            </a:r>
          </a:p>
          <a:p>
            <a:pPr>
              <a:spcAft>
                <a:spcPts val="1200"/>
              </a:spcAft>
              <a:defRPr sz="1600"/>
            </a:pPr>
            <a:r>
              <a:t>Laptop was the highest-revenue product, followed by other major Electronics products.</a:t>
            </a:r>
          </a:p>
          <a:p>
            <a:pPr>
              <a:spcAft>
                <a:spcPts val="1200"/>
              </a:spcAft>
              <a:defRPr sz="1600"/>
            </a:pPr>
            <a:r>
              <a:t>Pune, Mumbai, Jaipur and Bangalore were among the leading cities, each contributing roughly ₹3.1M–₹3.3M.</a:t>
            </a:r>
          </a:p>
          <a:p>
            <a:pPr>
              <a:spcAft>
                <a:spcPts val="1200"/>
              </a:spcAft>
              <a:defRPr sz="1600"/>
            </a:pPr>
            <a:r>
              <a:t>Revenue peaked in January at approximately ₹5.21M.</a:t>
            </a:r>
          </a:p>
          <a:p>
            <a:pPr>
              <a:spcAft>
                <a:spcPts val="1200"/>
              </a:spcAft>
              <a:defRPr sz="1600"/>
            </a:pPr>
            <a:r>
              <a:t>Revenue declined by about 22% from May to June, with June revenue around ₹3.81M.</a:t>
            </a:r>
          </a:p>
          <a:p>
            <a:pPr>
              <a:spcAft>
                <a:spcPts val="1200"/>
              </a:spcAft>
              <a:defRPr sz="1600"/>
            </a:pPr>
            <a:r>
              <a:t>Books and Fashion had relatively low revenue contribution compared with Electronics.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Databricks Lakehouse &amp; Analytical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Created a curated sales layer from cleaned transaction data.</a:t>
            </a:r>
          </a:p>
          <a:p>
            <a:pPr>
              <a:spcAft>
                <a:spcPts val="1200"/>
              </a:spcAft>
              <a:defRPr sz="1800"/>
            </a:pPr>
            <a:r>
              <a:t>Built Gold tables for monthly, product, category, city and time-series analysis.</a:t>
            </a:r>
          </a:p>
          <a:p>
            <a:pPr>
              <a:spcAft>
                <a:spcPts val="1200"/>
              </a:spcAft>
              <a:defRPr sz="1800"/>
            </a:pPr>
            <a:r>
              <a:t>Created gold_daily_sales with daily revenue, orders, units, AOV and average selling price.</a:t>
            </a:r>
          </a:p>
          <a:p>
            <a:pPr>
              <a:spcAft>
                <a:spcPts val="1200"/>
              </a:spcAft>
              <a:defRPr sz="1800"/>
            </a:pPr>
            <a:r>
              <a:t>Created gold_sales_features for machine-learning-ready time-series features.</a:t>
            </a:r>
          </a:p>
          <a:p>
            <a:pPr>
              <a:spcAft>
                <a:spcPts val="1200"/>
              </a:spcAft>
              <a:defRPr sz="1800"/>
            </a:pPr>
            <a:r>
              <a:t>Used Delta tables to provide reusable analytical datasets for reporting and forecasting.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180 consecutive daily observations → 150 ML-ready observations after historical-feature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Revenue Forecasting —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Target: daily total revenue.</a:t>
            </a:r>
          </a:p>
          <a:p>
            <a:pPr>
              <a:spcAft>
                <a:spcPts val="1200"/>
              </a:spcAft>
              <a:defRPr sz="1700"/>
            </a:pPr>
            <a:r>
              <a:t>Calendar features: day, day of week, week, month, quarter and weekend indicator.</a:t>
            </a:r>
          </a:p>
          <a:p>
            <a:pPr>
              <a:spcAft>
                <a:spcPts val="1200"/>
              </a:spcAft>
              <a:defRPr sz="1700"/>
            </a:pPr>
            <a:r>
              <a:t>Historical features: 1-, 7-, 14- and 30-day revenue lags.</a:t>
            </a:r>
          </a:p>
          <a:p>
            <a:pPr>
              <a:spcAft>
                <a:spcPts val="1200"/>
              </a:spcAft>
              <a:defRPr sz="1700"/>
            </a:pPr>
            <a:r>
              <a:t>Rolling features: 7-, 14- and 30-day historical revenue averages.</a:t>
            </a:r>
          </a:p>
          <a:p>
            <a:pPr>
              <a:spcAft>
                <a:spcPts val="1200"/>
              </a:spcAft>
              <a:defRPr sz="1700"/>
            </a:pPr>
            <a:r>
              <a:t>Used a chronological train-test split to respect the time-series nature of the problem.</a:t>
            </a:r>
          </a:p>
          <a:p>
            <a:pPr>
              <a:spcAft>
                <a:spcPts val="1200"/>
              </a:spcAft>
              <a:defRPr sz="1700"/>
            </a:pPr>
            <a:r>
              <a:t>Compared a previous-day baseline, Linear Regression and Random Forest.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1732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MAPE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Previous-Day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₹121,610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₹161,198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262.83%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₹99,847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₹116,240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195.86%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₹92,069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₹108,779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188.17%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977639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Random Forest achieved the lowest MAE, RMSE and MAPE on the chronological test set.</a:t>
            </a:r>
          </a:p>
          <a:p>
            <a:pPr>
              <a:spcAft>
                <a:spcPts val="1200"/>
              </a:spcAft>
              <a:defRPr sz="1600"/>
            </a:pPr>
            <a:r>
              <a:t>Compared with the previous-day baseline, MAE improved by approximately 24.3% and RMSE by 32.5%.</a:t>
            </a:r>
          </a:p>
          <a:p>
            <a:pPr>
              <a:spcAft>
                <a:spcPts val="1200"/>
              </a:spcAft>
              <a:defRPr sz="1600"/>
            </a:pPr>
            <a:r>
              <a:t>MAPE is treated as supplementary because low-revenue days can create large percentage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7-Day Revenue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63040" y="114300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Predicted Revenue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₹312,523.78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₹266,568.16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₹242,149.56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₹142,850.30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₹106,184.20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₹97,034.30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₹100,033.94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98079" y="1417320"/>
            <a:ext cx="34747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₹1.27M</a:t>
            </a:r>
          </a:p>
          <a:p>
            <a:pPr algn="ctr">
              <a:defRPr sz="1200"/>
            </a:pPr>
            <a:r>
              <a:t>7-Day Expected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971800"/>
            <a:ext cx="34747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₹181K</a:t>
            </a:r>
          </a:p>
          <a:p>
            <a:pPr algn="ctr">
              <a:defRPr sz="1200"/>
            </a:pPr>
            <a:r>
              <a:t>Average Daily Forecast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526280"/>
            <a:ext cx="34747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₹312.5K</a:t>
            </a:r>
          </a:p>
          <a:p>
            <a:pPr algn="ctr">
              <a:defRPr sz="1200"/>
            </a:pPr>
            <a:r>
              <a:t>Highest Daily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Investigate the June revenue decline to identify the main drivers of the slowdown.</a:t>
            </a:r>
          </a:p>
          <a:p>
            <a:pPr>
              <a:spcAft>
                <a:spcPts val="1200"/>
              </a:spcAft>
              <a:defRPr sz="1600"/>
            </a:pPr>
            <a:r>
              <a:t>Monitor inventory and sales performance of high-revenue Electronics products.</a:t>
            </a:r>
          </a:p>
          <a:p>
            <a:pPr>
              <a:spcAft>
                <a:spcPts val="1200"/>
              </a:spcAft>
              <a:defRPr sz="1600"/>
            </a:pPr>
            <a:r>
              <a:t>Reduce dependency on a small number of top products by promoting mid-tier products.</a:t>
            </a:r>
          </a:p>
          <a:p>
            <a:pPr>
              <a:spcAft>
                <a:spcPts val="1200"/>
              </a:spcAft>
              <a:defRPr sz="1600"/>
            </a:pPr>
            <a:r>
              <a:t>Investigate underperforming cities for pricing, assortment, marketing or distribution opportunities.</a:t>
            </a:r>
          </a:p>
          <a:p>
            <a:pPr>
              <a:spcAft>
                <a:spcPts val="1200"/>
              </a:spcAft>
              <a:defRPr sz="1600"/>
            </a:pPr>
            <a:r>
              <a:t>Review low-contribution categories such as Books and Fashion for targeted growth opportunities.</a:t>
            </a:r>
          </a:p>
          <a:p>
            <a:pPr>
              <a:spcAft>
                <a:spcPts val="1200"/>
              </a:spcAft>
              <a:defRPr sz="1600"/>
            </a:pPr>
            <a:r>
              <a:t>Use orders, units, AOV and product contribution together rather than relying on unit volume alone.</a:t>
            </a:r>
          </a:p>
          <a:p>
            <a:pPr>
              <a:spcAft>
                <a:spcPts val="1200"/>
              </a:spcAft>
              <a:defRPr sz="1600"/>
            </a:pPr>
            <a:r>
              <a:t>Use the 7-day forecast as a planning input, not as a guaranteed revenue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Built a complete analytics workflow from raw transactions to business recommendations.</a:t>
            </a:r>
          </a:p>
          <a:p>
            <a:pPr>
              <a:spcAft>
                <a:spcPts val="1200"/>
              </a:spcAft>
              <a:defRPr sz="1800"/>
            </a:pPr>
            <a:r>
              <a:t>Combined Python, SQL, Databricks, Power BI and machine learning in one project.</a:t>
            </a:r>
          </a:p>
          <a:p>
            <a:pPr>
              <a:spcAft>
                <a:spcPts val="1200"/>
              </a:spcAft>
              <a:defRPr sz="1800"/>
            </a:pPr>
            <a:r>
              <a:t>Identified major revenue concentration across categories, products and cities.</a:t>
            </a:r>
          </a:p>
          <a:p>
            <a:pPr>
              <a:spcAft>
                <a:spcPts val="1200"/>
              </a:spcAft>
              <a:defRPr sz="1800"/>
            </a:pPr>
            <a:r>
              <a:t>Built leakage-safe historical features and evaluated multiple forecasting approaches.</a:t>
            </a:r>
          </a:p>
          <a:p>
            <a:pPr>
              <a:spcAft>
                <a:spcPts val="1200"/>
              </a:spcAft>
              <a:defRPr sz="1800"/>
            </a:pPr>
            <a:r>
              <a:t>Selected Random Forest based on chronological test-set performance.</a:t>
            </a:r>
          </a:p>
          <a:p>
            <a:pPr>
              <a:spcAft>
                <a:spcPts val="1200"/>
              </a:spcAft>
              <a:defRPr sz="1800"/>
            </a:pPr>
            <a:r>
              <a:t>Generated a 7-day recursive revenue forecast to support short-term planning.</a:t>
            </a:r>
          </a:p>
          <a:p>
            <a:pPr>
              <a:spcAft>
                <a:spcPts val="1200"/>
              </a:spcAft>
              <a:defRPr sz="1800"/>
            </a:pPr>
            <a:r>
              <a:t>Demonstrated how analytics and forecasting can turn transaction data into actionable business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E-Commerce Sales Performance Analysis &amp; Revenue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5552</Words>
  <Application>WPS Presentation</Application>
  <PresentationFormat>On-screen Show (4:3)</PresentationFormat>
  <Paragraphs>193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2</cp:revision>
  <dcterms:created xsi:type="dcterms:W3CDTF">2013-01-27T09:14:00Z</dcterms:created>
  <dcterms:modified xsi:type="dcterms:W3CDTF">2026-10-08T07:06:35Z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9E2990BB88B5495A847BC65B637E5A37_13</vt:lpwstr>
  </property>
  <property fmtid="{D5CDD505-2E9C-101B-9397-08002B2CF9AE}" pid="3" name="KSOProductBuildVer">
    <vt:lpwstr>1033-12.1.0.28485</vt:lpwstr>
  </property>
</Properties>
</file>