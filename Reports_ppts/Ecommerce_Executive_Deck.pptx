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E4C4E4-57F4-4A47-9A99-42DBD7B50CFA}" v="24" dt="2026-07-04T18:17:43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5205217</c:v>
                </c:pt>
                <c:pt idx="1">
                  <c:v>4418597</c:v>
                </c:pt>
                <c:pt idx="2">
                  <c:v>4668487</c:v>
                </c:pt>
                <c:pt idx="3">
                  <c:v>4655425</c:v>
                </c:pt>
                <c:pt idx="4">
                  <c:v>4860088</c:v>
                </c:pt>
                <c:pt idx="5">
                  <c:v>3812836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04-4D88-A05B-320352AF1B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D5B-4E1F-AFA2-5BA94D11A6AB}"/>
              </c:ext>
            </c:extLst>
          </c:dPt>
          <c:dPt>
            <c:idx val="1"/>
            <c:bubble3D val="0"/>
            <c:spPr>
              <a:solidFill>
                <a:srgbClr val="3D4A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D5B-4E1F-AFA2-5BA94D11A6AB}"/>
              </c:ext>
            </c:extLst>
          </c:dPt>
          <c:dPt>
            <c:idx val="2"/>
            <c:bubble3D val="0"/>
            <c:spPr>
              <a:solidFill>
                <a:srgbClr val="7C8C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D5B-4E1F-AFA2-5BA94D11A6AB}"/>
              </c:ext>
            </c:extLst>
          </c:dPt>
          <c:dPt>
            <c:idx val="3"/>
            <c:bubble3D val="0"/>
            <c:spPr>
              <a:solidFill>
                <a:srgbClr val="C55A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D5B-4E1F-AFA2-5BA94D11A6AB}"/>
              </c:ext>
            </c:extLst>
          </c:dPt>
          <c:dPt>
            <c:idx val="4"/>
            <c:bubble3D val="0"/>
            <c:spPr>
              <a:solidFill>
                <a:srgbClr val="D9A5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D5B-4E1F-AFA2-5BA94D11A6A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D5B-4E1F-AFA2-5BA94D11A6A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D5B-4E1F-AFA2-5BA94D11A6A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D5B-4E1F-AFA2-5BA94D11A6A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D5B-4E1F-AFA2-5BA94D11A6AB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D5B-4E1F-AFA2-5BA94D11A6A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Home Appliances</c:v>
                </c:pt>
                <c:pt idx="2">
                  <c:v>Accessories</c:v>
                </c:pt>
                <c:pt idx="3">
                  <c:v>Fashion</c:v>
                </c:pt>
                <c:pt idx="4">
                  <c:v>Books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78.23</c:v>
                </c:pt>
                <c:pt idx="1">
                  <c:v>11.37</c:v>
                </c:pt>
                <c:pt idx="2">
                  <c:v>5.9</c:v>
                </c:pt>
                <c:pt idx="3">
                  <c:v>4.17</c:v>
                </c:pt>
                <c:pt idx="4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D5B-4E1F-AFA2-5BA94D11A6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Laptop</c:v>
                </c:pt>
                <c:pt idx="1">
                  <c:v>Tablet</c:v>
                </c:pt>
                <c:pt idx="2">
                  <c:v>Smartphone</c:v>
                </c:pt>
                <c:pt idx="3">
                  <c:v>Air Fryer</c:v>
                </c:pt>
                <c:pt idx="4">
                  <c:v>Watch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11411335</c:v>
                </c:pt>
                <c:pt idx="1">
                  <c:v>5933914</c:v>
                </c:pt>
                <c:pt idx="2">
                  <c:v>3535263</c:v>
                </c:pt>
                <c:pt idx="3">
                  <c:v>1533422</c:v>
                </c:pt>
                <c:pt idx="4">
                  <c:v>1203725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A3-4C5B-AC94-9B1D650CD1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Pune</c:v>
                </c:pt>
                <c:pt idx="1">
                  <c:v>Mumbai</c:v>
                </c:pt>
                <c:pt idx="2">
                  <c:v>Jaipur</c:v>
                </c:pt>
                <c:pt idx="3">
                  <c:v>Bangalore</c:v>
                </c:pt>
                <c:pt idx="4">
                  <c:v>Kolkata</c:v>
                </c:pt>
                <c:pt idx="5">
                  <c:v>Surat</c:v>
                </c:pt>
                <c:pt idx="6">
                  <c:v>Delhi</c:v>
                </c:pt>
                <c:pt idx="7">
                  <c:v>Chennai</c:v>
                </c:pt>
                <c:pt idx="8">
                  <c:v>Ahmedabad</c:v>
                </c:pt>
                <c:pt idx="9">
                  <c:v>Hyderabad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3262080</c:v>
                </c:pt>
                <c:pt idx="1">
                  <c:v>3213060</c:v>
                </c:pt>
                <c:pt idx="2">
                  <c:v>3161090</c:v>
                </c:pt>
                <c:pt idx="3">
                  <c:v>3148290</c:v>
                </c:pt>
                <c:pt idx="4">
                  <c:v>2971340</c:v>
                </c:pt>
                <c:pt idx="5">
                  <c:v>2798240</c:v>
                </c:pt>
                <c:pt idx="6">
                  <c:v>2660340</c:v>
                </c:pt>
                <c:pt idx="7">
                  <c:v>2359390</c:v>
                </c:pt>
                <c:pt idx="8">
                  <c:v>2100000</c:v>
                </c:pt>
                <c:pt idx="9">
                  <c:v>1900000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46-42CE-A218-99DD8AE8E5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940183-69A6-499C-B92F-E3B5B4265EE4}" type="datetimeFigureOut">
              <a:t>7/4/2026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470D4-AE80-4857-B33D-65DCB0D2EE6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13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486400" cy="54864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SALES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REVIEW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68680" y="3520440"/>
            <a:ext cx="2377440" cy="36576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Business Report  |  January – June 2026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Management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Bottom 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Six months of trading, at a glance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057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₹27.62M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25786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16459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11880" y="2057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3611880" y="25786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0936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6459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46520" y="2057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3,035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6446520" y="25786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14400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168" y="16459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81160" y="2057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₹27.6K</a:t>
            </a:r>
            <a:endParaRPr lang="en-US" sz="2600" dirty="0"/>
          </a:p>
        </p:txBody>
      </p:sp>
      <p:sp>
        <p:nvSpPr>
          <p:cNvPr id="19" name="Text 13"/>
          <p:cNvSpPr/>
          <p:nvPr/>
        </p:nvSpPr>
        <p:spPr>
          <a:xfrm>
            <a:off x="9281160" y="25786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34290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21" name="Shape 15"/>
          <p:cNvSpPr/>
          <p:nvPr/>
        </p:nvSpPr>
        <p:spPr>
          <a:xfrm>
            <a:off x="868680" y="3657600"/>
            <a:ext cx="128016" cy="128016"/>
          </a:xfrm>
          <a:prstGeom prst="ellipse">
            <a:avLst/>
          </a:prstGeom>
          <a:solidFill>
            <a:srgbClr val="1E7B4D"/>
          </a:solidFill>
          <a:ln/>
        </p:spPr>
      </p:sp>
      <p:sp>
        <p:nvSpPr>
          <p:cNvPr id="22" name="Text 16"/>
          <p:cNvSpPr/>
          <p:nvPr/>
        </p:nvSpPr>
        <p:spPr>
          <a:xfrm>
            <a:off x="1097280" y="357530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WORKING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68680" y="40233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— Laptop, Tablet, Smartphone — carries the business, driving 78% of all revenue.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434840" y="34290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25" name="Shape 19"/>
          <p:cNvSpPr/>
          <p:nvPr/>
        </p:nvSpPr>
        <p:spPr>
          <a:xfrm>
            <a:off x="4663440" y="3657600"/>
            <a:ext cx="128016" cy="128016"/>
          </a:xfrm>
          <a:prstGeom prst="ellipse">
            <a:avLst/>
          </a:prstGeom>
          <a:solidFill>
            <a:srgbClr val="B00020"/>
          </a:solidFill>
          <a:ln/>
        </p:spPr>
      </p:sp>
      <p:sp>
        <p:nvSpPr>
          <p:cNvPr id="26" name="Text 20"/>
          <p:cNvSpPr/>
          <p:nvPr/>
        </p:nvSpPr>
        <p:spPr>
          <a:xfrm>
            <a:off x="4892040" y="357530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NOT WORKING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663440" y="40233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fell 22% from May to June, the sharpest drop of the year; 88% of revenue relies on just 5 products.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8229600" y="34290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29" name="Shape 23"/>
          <p:cNvSpPr/>
          <p:nvPr/>
        </p:nvSpPr>
        <p:spPr>
          <a:xfrm>
            <a:off x="8458200" y="3657600"/>
            <a:ext cx="128016" cy="128016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30" name="Text 24"/>
          <p:cNvSpPr/>
          <p:nvPr/>
        </p:nvSpPr>
        <p:spPr>
          <a:xfrm>
            <a:off x="8686800" y="357530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8458200" y="40233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why June dropped, diversify beyond the top 5 products, and invest in underperforming cities.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Sales Trend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A sharp June decline is the single most urgent signal in this data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758952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371600"/>
            <a:ext cx="3154680" cy="4937760"/>
          </a:xfrm>
          <a:prstGeom prst="roundRect">
            <a:avLst>
              <a:gd name="adj" fmla="val 2319"/>
            </a:avLst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169164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41080" y="2286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-22%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8641080" y="29260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→ June revenue drop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641080" y="3657600"/>
            <a:ext cx="2606040" cy="0"/>
          </a:xfrm>
          <a:prstGeom prst="line">
            <a:avLst/>
          </a:prstGeom>
          <a:noFill/>
          <a:ln w="12700">
            <a:solidFill>
              <a:srgbClr val="3D4A8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41080" y="388620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peak: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₹5.21M
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low: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₹3.81M
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steady, ~₹4.6M–4.9M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641080" y="53035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confirm whether this is a data issue, a stock issue, or real demand softening before Q3 planning.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Revenue Comes From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Electronics dominates — a strength and a concentration risk at once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566928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554480"/>
          <a:ext cx="5029200" cy="27432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Electronics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78.2%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Core revenue driver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Home Appliances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11.4%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Stable, secondary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Accessories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5.9%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High volume, low value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Fashion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4.2%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High volume, low value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Books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0.3%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Negligible — review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Concentration Risk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Just 5 products generate roughly 88% of total revenue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758952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371600"/>
            <a:ext cx="3154680" cy="4937760"/>
          </a:xfrm>
          <a:prstGeom prst="roundRect">
            <a:avLst>
              <a:gd name="adj" fmla="val 2319"/>
            </a:avLst>
          </a:prstGeom>
          <a:solidFill>
            <a:srgbClr val="F4F6F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169164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41080" y="2286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8641080" y="28803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company revenue comes from Laptop alone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641080" y="3657600"/>
            <a:ext cx="2606040" cy="0"/>
          </a:xfrm>
          <a:prstGeom prst="line">
            <a:avLst/>
          </a:prstGeom>
          <a:noFill/>
          <a:ln w="12700">
            <a:solidFill>
              <a:srgbClr val="D9D9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41080" y="3886200"/>
            <a:ext cx="2606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Laptop, Tablet, and Smartphone together generate ~75% of revenue. A stockout, price war, or demand dip in any one of these would hit the business hard.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Hyderabad and Ahmedabad trail the leading cities by 35–40%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1106424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the Business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3736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9385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572768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depends on price, not volume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011680" y="2029968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more units barely moves revenue. Prioritize high-ticket products in marketing and inventory strategy over pushing unit volume.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342900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6301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11680" y="3264408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is over-reliant on 5 SKUs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2011680" y="3721608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of revenue sits in Laptop, Tablet, Smartphone, Air Fryer, and Watch. Any disruption to these is a direct threat to revenue.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40080" y="475488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51206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532180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11680" y="4956048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June's drop needs an explanation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2011680" y="5413248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22% month-over-month decline is too large to ignore — rule out data issues and stockouts before setting Q3 targets.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Six priorities for the next quarter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June revenue drop immediately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039112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out data issues and stockouts first, then check marketing spend and demand.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15544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stronger second tier of products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039112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Coffee Maker, Mixer, Shoes, Jeans, Backpack to reduce top-5 dependence.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1546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low-value categories with high-value ones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639312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Fashion and Accessories with Electronics purchases to lift order value.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0175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3200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31546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Hyderabad and Ahmedabad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3639312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delivery speed, local marketing, and payment options.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47548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the Books category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5239512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0.3% of revenue, decide whether it merits continued investment.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6177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6520" y="4800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40880" y="47548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early-warning tracking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5239512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month-over-month revenue with a threshold alert for early detection.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6317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 for Leadership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22960" y="18288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is healthy in aggregate — ₹27.62M in six months — but that strength rests on a narrow base.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29260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C55A1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08152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2971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June fell off a cliff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22960" y="39776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C55A11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4133088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91640" y="4023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dependence on a handful of Electronics products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822960" y="5303520"/>
            <a:ext cx="1033272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endParaRPr lang="en-US" sz="1400" i="1" dirty="0">
              <a:solidFill>
                <a:srgbClr val="AAB6E8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Performance — Executive Review</dc:title>
  <dc:subject>PptxGenJS Presentation</dc:subject>
  <dc:creator>Sales Analytics</dc:creator>
  <cp:lastModifiedBy>Sales Analytics</cp:lastModifiedBy>
  <cp:revision>4</cp:revision>
  <dcterms:created xsi:type="dcterms:W3CDTF">2026-07-04T09:50:51Z</dcterms:created>
  <dcterms:modified xsi:type="dcterms:W3CDTF">2026-07-04T18:18:07Z</dcterms:modified>
</cp:coreProperties>
</file>